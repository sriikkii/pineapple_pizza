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1B8B0-EFB0-40CC-8AE5-FF0CC3C3EB36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CFF5E-228A-4AD6-A882-21A2F230F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89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1E32F-0E05-F838-B438-529560725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C4528-F84D-C20C-187F-7BD0D04E8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FFE52-8488-09EE-CFEC-43CDAD2B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C24A-C54C-4423-A62F-51F6FE876936}" type="datetime1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E11F9-FE6B-B279-2D63-619F997A0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01FB5-8D55-8CE8-CDC5-CD0E674B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13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C637-8009-5752-D7C8-A5046D9E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8C776-6F9A-027F-0D14-66F530498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A8C97-B812-29A7-57ED-F53A096B0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9C38-A964-4559-A4BB-EAE486697BEE}" type="datetime1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47F45-2108-FAC3-C877-DA0171EA4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235F4-272A-ED33-405F-083A5408A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697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8BF0F-9634-ED33-34CF-C268E7356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E4D41-F219-5C13-6008-24A97ACAA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D40AF-2677-C834-74F3-B6F48550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14FD-71CB-4D5C-A87B-88A987EC5DE5}" type="datetime1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AE1BA-4F23-5B0C-DCD4-6BFCE009B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E70E3-1B7D-B0C7-D3C9-A947EF85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63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8981-5C17-8EFB-612D-042C7908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E8138-780F-F0FD-6ED8-F30BDEAD4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0D7ED-301C-70D0-E886-6AC667E48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A8ADC-D38B-F44A-7C5A-64291834F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CCA5-0C68-48D4-B864-98F6C4D291A5}" type="datetime1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ACA39-5166-3E93-B7D0-7ABD819E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ED6A3-3A42-5A21-CD63-DDF45EC2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128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18899-64C6-EFE9-1A07-E8A0BDED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F2901-C652-FDF4-6D58-E82F1A8EB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DE0FE-CAEE-39A2-743A-3269DE419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8FC019-D73C-FA19-D778-0A14E671D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6D01BD-37F0-4DA8-AAA7-10EB6A4FA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F7774-ABA2-B881-6FAB-CD5FF6B7A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1FFB2-89FB-47EA-8E18-7D7927D8F78E}" type="datetime1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C2952F-6C26-5C09-8BD9-9FFCD113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DB9DF-39A6-2246-7CAC-F27C6E97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45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3E30-907A-BB8C-4D9A-A0D0B1715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73831-12DE-0D75-29B7-5CE43C4F5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503CC-F7A9-40F4-B7B2-7804ECA8C928}" type="datetime1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3F764-E560-CB7D-FF7E-DA7C8D91A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D322A-A267-0268-A0B2-6EDE22745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61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B75C1-90DB-A2EA-3DE2-DB113DB7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6C98E-0EA5-4DA9-9662-E38D0F5B99D2}" type="datetime1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366D4E-274F-4EC3-214B-E09B0497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1C26-8050-8FC1-883E-86C3347D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37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EF96-8F14-96E2-0183-1C48E10FC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2308F-9B8F-DFA5-BA42-B64B2E9CA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109A7-2BD6-C266-41C6-BF0DE0ED3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256AF-3812-6245-7E76-78DF998A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B6D9-C39E-4C20-B589-F9C51645C726}" type="datetime1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94DAE-E8B8-A5E8-F29B-623A4149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9D791-870D-C6D9-9A31-433E06CD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86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2D31-BCB0-0217-F3DF-AE3D6BF9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1298C0-2046-F538-06AD-6F278DB99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5E51F-02EB-65F9-E0CB-0AD6C53DC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03695-97EF-53E9-919B-F3F77E68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E736-4A0A-4F0D-BD04-4259C34BE173}" type="datetime1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88836-EAE5-F842-B10F-D5240D78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991C2-979A-BCEA-8A84-A237DB7C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197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D42D-BC11-9323-3CEF-31B87D1ED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F122D-5AC9-F9EF-1F6D-78C0E9F32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33F41-750B-3DD9-EE40-70E62904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10637-4930-43B1-B035-550A468794D0}" type="datetime1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DCA18-D267-AAAD-9A02-5D7D1D5D8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B9645-E4B9-E6FE-C2A5-4845B7D0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254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0238D-E175-57DA-A5B7-263B81F21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A9CC4-207E-54C3-F0CD-58CB27503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6B665-CE28-0520-E520-19BA2E56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2672-5CA1-46B6-A266-7F47A52C0AFD}" type="datetime1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9C0AB-99E7-141B-897E-7D89AE0A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063C0-2B0E-3D90-A2E4-09E3A8A5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08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6A91AC-04AF-0904-C119-9A79A9B9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F54B6-A9CD-4552-F147-195D9BE93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E3F9-A9FC-4A5B-74AF-1786AC518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E7F68-942A-49B7-8C5A-10B789EE30E3}" type="datetime1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D68D1-3A00-0C72-FD82-429A03BBC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792BD-7788-DAA9-B7AE-DE363593E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96A76-6415-47C5-BAAD-7807354C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799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link.springer.com/article/10.1007/s00530-024-01574-8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CAEA-EE4D-AF14-B73E-EF544AEED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83185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DECLARATIVE TIME-BASED ANIMATION USING DOMAIN-SPECIFIC LANGUAGE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1A84B-17D2-1953-2F2C-50FFC7F32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74142"/>
            <a:ext cx="9144000" cy="314632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Presented by</a:t>
            </a:r>
            <a:endParaRPr lang="en-IN" dirty="0"/>
          </a:p>
          <a:p>
            <a:pPr marL="457200" indent="-457200" algn="l">
              <a:buFont typeface="+mj-lt"/>
              <a:buAutoNum type="arabicPeriod"/>
            </a:pPr>
            <a:r>
              <a:rPr lang="en-US" sz="1800" dirty="0" err="1"/>
              <a:t>Priyadharsan</a:t>
            </a:r>
            <a:r>
              <a:rPr lang="en-US" sz="1800" dirty="0"/>
              <a:t> K ( 227003112 )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800" dirty="0" err="1"/>
              <a:t>Srikaanth</a:t>
            </a:r>
            <a:r>
              <a:rPr lang="en-US" sz="1800" dirty="0"/>
              <a:t> R ( 227003116 )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800" dirty="0"/>
              <a:t>Srinivasan S ( 227003142 )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Under the Guidance of</a:t>
            </a:r>
          </a:p>
          <a:p>
            <a:pPr algn="l"/>
            <a:r>
              <a:rPr lang="en-US" sz="2000" dirty="0"/>
              <a:t>Dr </a:t>
            </a:r>
            <a:r>
              <a:rPr lang="en-US" sz="2000" dirty="0" err="1"/>
              <a:t>Moratanch</a:t>
            </a:r>
            <a:r>
              <a:rPr lang="en-US" sz="2000" dirty="0"/>
              <a:t> N ( AP III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3D874-A2D4-A416-8651-529F67077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294" y="0"/>
            <a:ext cx="1467706" cy="112236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C6618-6C69-D850-3DBA-0B09BA34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639" y="378618"/>
            <a:ext cx="312174" cy="365125"/>
          </a:xfrm>
        </p:spPr>
        <p:txBody>
          <a:bodyPr/>
          <a:lstStyle/>
          <a:p>
            <a:fld id="{84496A76-6415-47C5-BAAD-7807354C029F}" type="slidenum">
              <a:rPr lang="en-IN" b="1" smtClean="0"/>
              <a:t>1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6395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D6BD-68D6-5EDF-00EE-B608B205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PRESENTATION OUTLINE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CE838-7F5C-09B1-479B-444560648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0245"/>
            <a:ext cx="10515600" cy="3846718"/>
          </a:xfrm>
        </p:spPr>
        <p:txBody>
          <a:bodyPr>
            <a:normAutofit/>
          </a:bodyPr>
          <a:lstStyle/>
          <a:p>
            <a:r>
              <a:rPr lang="en-US" sz="2400" dirty="0"/>
              <a:t>Problem Statement</a:t>
            </a:r>
          </a:p>
          <a:p>
            <a:r>
              <a:rPr lang="en-US" sz="2400" dirty="0"/>
              <a:t>Objective</a:t>
            </a:r>
          </a:p>
          <a:p>
            <a:r>
              <a:rPr lang="en-US" sz="2400" dirty="0"/>
              <a:t>Literature Review</a:t>
            </a:r>
          </a:p>
          <a:p>
            <a:r>
              <a:rPr lang="en-US" sz="2400" dirty="0"/>
              <a:t>Dataset</a:t>
            </a:r>
          </a:p>
          <a:p>
            <a:r>
              <a:rPr lang="en-US" sz="2400" dirty="0"/>
              <a:t>System Architecture</a:t>
            </a:r>
          </a:p>
          <a:p>
            <a:r>
              <a:rPr lang="en-US" sz="2400" dirty="0"/>
              <a:t>List of References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10D38-63FD-0C25-C5B4-ACF69D19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639" y="379037"/>
            <a:ext cx="361335" cy="365125"/>
          </a:xfrm>
        </p:spPr>
        <p:txBody>
          <a:bodyPr/>
          <a:lstStyle/>
          <a:p>
            <a:fld id="{84496A76-6415-47C5-BAAD-7807354C029F}" type="slidenum">
              <a:rPr lang="en-IN" b="1" smtClean="0"/>
              <a:t>2</a:t>
            </a:fld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B4569-0E39-2AD8-8F30-68EFD48AF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00" y="0"/>
            <a:ext cx="1468800" cy="11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994D-F35E-6C67-2893-204E64C8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PROBLEM STATEMENT</a:t>
            </a:r>
            <a:endParaRPr lang="en-IN" sz="3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C209F-865C-A0B3-1868-85B216C7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7483" y="379037"/>
            <a:ext cx="341671" cy="365125"/>
          </a:xfrm>
        </p:spPr>
        <p:txBody>
          <a:bodyPr/>
          <a:lstStyle/>
          <a:p>
            <a:fld id="{84496A76-6415-47C5-BAAD-7807354C029F}" type="slidenum">
              <a:rPr lang="en-IN" b="1" smtClean="0"/>
              <a:t>3</a:t>
            </a:fld>
            <a:endParaRPr lang="en-IN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5B0B333-7584-DBE6-001A-5EC767E3FD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21764"/>
            <a:ext cx="9661812" cy="3359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Difficult to visualize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when multiple elements are involved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handling of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delays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becomes complex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Coordinating multiple animations is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error-prone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Debugging animation behavior is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challenging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Animation logic and timing are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tightly coupled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CSS code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Suitable for simple animations, but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hard to manage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complex sequences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8EDA2-3C95-CCD8-BD2F-1FC7A1A81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42" y="0"/>
            <a:ext cx="1468800" cy="11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0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E524-18FA-A5D2-8A3D-D68D013F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OBJECTIVES</a:t>
            </a:r>
            <a:endParaRPr lang="en-IN" sz="3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DE1A8-EA60-76F2-78B8-BEC603F6A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4798" y="379037"/>
            <a:ext cx="312175" cy="365125"/>
          </a:xfrm>
        </p:spPr>
        <p:txBody>
          <a:bodyPr/>
          <a:lstStyle/>
          <a:p>
            <a:fld id="{84496A76-6415-47C5-BAAD-7807354C029F}" type="slidenum">
              <a:rPr lang="en-IN" b="1" smtClean="0"/>
              <a:t>4</a:t>
            </a:fld>
            <a:endParaRPr lang="en-IN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236390-286C-F306-66E9-0666C148C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67766"/>
            <a:ext cx="9482532" cy="446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design a web-based visual animation tool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enable timeline-based creation of animations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provide real-time preview of animations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generate clean and reusable CSS animation code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reduce the complexity of manual CSS keyframe writing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internally manage animation logic using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GameScript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-inspired concepts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apply agent-based, state-driven rules for animation sequencing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extend the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GameScript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execution model to the web animation domain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5CE6A-05AE-F296-555A-A959C2CAB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00" y="0"/>
            <a:ext cx="1468800" cy="11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0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DD58-E229-95D7-D22C-DB8E4D6E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51" y="272879"/>
            <a:ext cx="10515600" cy="94256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LITERATURE REVIEW</a:t>
            </a:r>
            <a:endParaRPr lang="en-IN" sz="3600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49BFA0A-B5A7-F4E1-D8F3-199A9396A1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2704833"/>
              </p:ext>
            </p:extLst>
          </p:nvPr>
        </p:nvGraphicFramePr>
        <p:xfrm>
          <a:off x="255639" y="1215444"/>
          <a:ext cx="11729884" cy="551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9214">
                  <a:extLst>
                    <a:ext uri="{9D8B030D-6E8A-4147-A177-3AD203B41FA5}">
                      <a16:colId xmlns:a16="http://schemas.microsoft.com/office/drawing/2014/main" val="3501573450"/>
                    </a:ext>
                  </a:extLst>
                </a:gridCol>
                <a:gridCol w="1902568">
                  <a:extLst>
                    <a:ext uri="{9D8B030D-6E8A-4147-A177-3AD203B41FA5}">
                      <a16:colId xmlns:a16="http://schemas.microsoft.com/office/drawing/2014/main" val="3714882602"/>
                    </a:ext>
                  </a:extLst>
                </a:gridCol>
                <a:gridCol w="3427769">
                  <a:extLst>
                    <a:ext uri="{9D8B030D-6E8A-4147-A177-3AD203B41FA5}">
                      <a16:colId xmlns:a16="http://schemas.microsoft.com/office/drawing/2014/main" val="3693745473"/>
                    </a:ext>
                  </a:extLst>
                </a:gridCol>
                <a:gridCol w="2940333">
                  <a:extLst>
                    <a:ext uri="{9D8B030D-6E8A-4147-A177-3AD203B41FA5}">
                      <a16:colId xmlns:a16="http://schemas.microsoft.com/office/drawing/2014/main" val="19036721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PAPER TITLE</a:t>
                      </a:r>
                      <a:endParaRPr lang="en-IN" sz="1600" dirty="0"/>
                    </a:p>
                  </a:txBody>
                  <a:tcPr marL="18000" marR="18000" marT="18000" marB="18000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AUTHOR(S) 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ABSTRACT 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LIMITATIONS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83683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Rule-Based Game Scripting Models for Modern Engines</a:t>
                      </a:r>
                    </a:p>
                  </a:txBody>
                  <a:tcPr marL="18000" marR="18000" marT="18000" marB="18000" anchorCtr="1">
                    <a:lnL w="381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A. Kumar et al.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Proposes rule-based scripting to simplify game logic </a:t>
                      </a:r>
                      <a:r>
                        <a:rPr lang="en-US" sz="1600" dirty="0" err="1"/>
                        <a:t>excution</a:t>
                      </a:r>
                      <a:endParaRPr lang="en-US" sz="1600" dirty="0"/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Limited support for visual or time-based sequencing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51972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A Declarative DSL for Game Behaviour Design</a:t>
                      </a:r>
                    </a:p>
                  </a:txBody>
                  <a:tcPr marL="18000" marR="18000" marT="18000" marB="18000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L. Zhang, M. Chen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Introduces a DSL to abstract game behavior from engine code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DSL syntax still complex for non-programmers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366874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Lightweight Scripting Languages for Game AI</a:t>
                      </a:r>
                    </a:p>
                  </a:txBody>
                  <a:tcPr marL="18000" marR="18000" marT="18000" marB="18000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S. Romero et al.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Focuses on minimal scripting for AI behavior control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Not suitable for animation or UI sequencing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0345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Agent-Based Game Logic Representation</a:t>
                      </a:r>
                    </a:p>
                  </a:txBody>
                  <a:tcPr marL="18000" marR="18000" marT="18000" marB="18000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P. Martins, R. Silva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Models game entities as agents with state-based rules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Agent logic tightly bound to game context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528973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Visual Tools for Game Scripting</a:t>
                      </a:r>
                    </a:p>
                  </a:txBody>
                  <a:tcPr marL="18000" marR="18000" marT="18000" marB="18000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J. Patel et al.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Provides GUI-based scripting for designers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Limited rule evaluation flexibility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03693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Separation of Game State and Behavior Logic</a:t>
                      </a:r>
                    </a:p>
                  </a:txBody>
                  <a:tcPr marL="18000" marR="18000" marT="18000" marB="18000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K. Andersson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Separates state management from behavior rules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Lacks real-time execution control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970265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Time-Based Behavior Modeling in Games</a:t>
                      </a:r>
                    </a:p>
                  </a:txBody>
                  <a:tcPr marL="18000" marR="18000" marT="18000" marB="18000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Y. Tan, H. Wu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Introduces time-driven rule evaluation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Focused only on games, not reusable domains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061889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DSLs for Interactive Game Narratives</a:t>
                      </a:r>
                    </a:p>
                  </a:txBody>
                  <a:tcPr marL="18000" marR="18000" marT="18000" marB="18000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E. Brown et al.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Uses scripting to control narrative flow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High complexity for simple behaviors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95175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Model-Driven Game Development Approaches</a:t>
                      </a:r>
                    </a:p>
                  </a:txBody>
                  <a:tcPr marL="18000" marR="18000" marT="18000" marB="18000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D. Novak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Uses models to generate game logic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Over-restrictive and less expressive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995317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Simplified Scripting Frameworks for Games</a:t>
                      </a:r>
                    </a:p>
                  </a:txBody>
                  <a:tcPr marL="18000" marR="18000" marT="18000" marB="18000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F. Rossi et al.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Aims at readability and maintainability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Limited applicability beyond game engines</a:t>
                      </a:r>
                    </a:p>
                  </a:txBody>
                  <a:tcPr marL="18000" marR="18000" marT="18000" marB="18000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940265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4BECF-6B07-7E29-CB1E-E0898CFF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9045" y="379037"/>
            <a:ext cx="263013" cy="365125"/>
          </a:xfrm>
        </p:spPr>
        <p:txBody>
          <a:bodyPr/>
          <a:lstStyle/>
          <a:p>
            <a:fld id="{84496A76-6415-47C5-BAAD-7807354C029F}" type="slidenum">
              <a:rPr lang="en-IN" b="1" smtClean="0"/>
              <a:t>5</a:t>
            </a:fld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2129B-DA8E-3CB1-32CB-08D969469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00" y="0"/>
            <a:ext cx="1468800" cy="11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3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BB153-A4C4-CF36-9E62-ADB01988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Dataset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C54AB-0775-6046-F7B4-1EA04E9BF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5F535-FA07-7AD3-5681-B8300E88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6813" y="379037"/>
            <a:ext cx="341671" cy="365125"/>
          </a:xfrm>
        </p:spPr>
        <p:txBody>
          <a:bodyPr/>
          <a:lstStyle/>
          <a:p>
            <a:fld id="{84496A76-6415-47C5-BAAD-7807354C029F}" type="slidenum">
              <a:rPr lang="en-IN" b="1" smtClean="0"/>
              <a:t>6</a:t>
            </a:fld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8A6C4-9ACB-1AB8-574F-CBD51D5AD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00" y="0"/>
            <a:ext cx="1468800" cy="11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15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52BC-9A1A-CD8D-35B1-9B4CD7D2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/>
              <a:t>SYSTEM ARCHITECTURE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BB4CC3-8E57-C98D-5784-7A8B70B41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541" y="1398534"/>
            <a:ext cx="5645665" cy="545946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5B167-013E-F021-907B-53530E8C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981" y="379037"/>
            <a:ext cx="322006" cy="365125"/>
          </a:xfrm>
        </p:spPr>
        <p:txBody>
          <a:bodyPr/>
          <a:lstStyle/>
          <a:p>
            <a:fld id="{84496A76-6415-47C5-BAAD-7807354C029F}" type="slidenum">
              <a:rPr lang="en-IN" b="1" smtClean="0"/>
              <a:t>7</a:t>
            </a:fld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AEFF1-4C45-BD09-E524-DD65DD0E3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00" y="0"/>
            <a:ext cx="1468800" cy="11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42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81B53-AF69-D094-7AFC-08755AF3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List of References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4313C-0283-72BE-E03B-5EA8513C4D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[1]</a:t>
            </a:r>
            <a:r>
              <a:rPr lang="en-IN" dirty="0"/>
              <a:t> Carlos Marín-Lora, Miguel </a:t>
            </a:r>
            <a:r>
              <a:rPr lang="en-IN" dirty="0" err="1"/>
              <a:t>Chover</a:t>
            </a:r>
            <a:r>
              <a:rPr lang="en-IN" dirty="0"/>
              <a:t>,</a:t>
            </a:r>
            <a:br>
              <a:rPr lang="en-IN" dirty="0"/>
            </a:br>
            <a:r>
              <a:rPr lang="en-IN" i="1" dirty="0" err="1"/>
              <a:t>GameScript</a:t>
            </a:r>
            <a:r>
              <a:rPr lang="en-IN" i="1" dirty="0"/>
              <a:t>: A Simplified Scripting Language for Video Game Development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Multimedia Systems, Springer Nature, </a:t>
            </a:r>
            <a:r>
              <a:rPr lang="en-IN" b="1" dirty="0"/>
              <a:t>2025</a:t>
            </a:r>
            <a:r>
              <a:rPr lang="en-IN" dirty="0"/>
              <a:t>, Vol. 31, Article 70.</a:t>
            </a:r>
            <a:br>
              <a:rPr lang="en-IN" dirty="0"/>
            </a:br>
            <a:r>
              <a:rPr lang="en-IN" dirty="0"/>
              <a:t>🔗 </a:t>
            </a:r>
            <a:r>
              <a:rPr lang="en-IN" dirty="0">
                <a:hlinkClick r:id="rId2"/>
              </a:rPr>
              <a:t>https://link.springer.com/article/10.1007/s00530-024-01574-8</a:t>
            </a:r>
            <a:endParaRPr lang="en-IN" dirty="0"/>
          </a:p>
          <a:p>
            <a:r>
              <a:rPr lang="en-IN" b="1" dirty="0"/>
              <a:t>[2]</a:t>
            </a:r>
            <a:r>
              <a:rPr lang="en-IN" dirty="0"/>
              <a:t> A. Kumar et al.,</a:t>
            </a:r>
            <a:br>
              <a:rPr lang="en-IN" dirty="0"/>
            </a:br>
            <a:r>
              <a:rPr lang="en-IN" i="1" dirty="0"/>
              <a:t>Rule-Based Game Scripting Models for Modern Engines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IEEE Access, </a:t>
            </a:r>
            <a:r>
              <a:rPr lang="en-IN" b="1" dirty="0"/>
              <a:t>2024</a:t>
            </a:r>
            <a:r>
              <a:rPr lang="en-IN" dirty="0"/>
              <a:t>, Vol. 12.</a:t>
            </a:r>
          </a:p>
          <a:p>
            <a:r>
              <a:rPr lang="en-IN" b="1" dirty="0"/>
              <a:t>[3]</a:t>
            </a:r>
            <a:r>
              <a:rPr lang="en-IN" dirty="0"/>
              <a:t> L. Zhang, M. Chen,</a:t>
            </a:r>
            <a:br>
              <a:rPr lang="en-IN" dirty="0"/>
            </a:br>
            <a:r>
              <a:rPr lang="en-IN" i="1" dirty="0"/>
              <a:t>Declarative DSL for Game </a:t>
            </a:r>
            <a:r>
              <a:rPr lang="en-IN" i="1" dirty="0" err="1"/>
              <a:t>Behavior</a:t>
            </a:r>
            <a:r>
              <a:rPr lang="en-IN" i="1" dirty="0"/>
              <a:t> Design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ACM Transactions on Graphics, </a:t>
            </a:r>
            <a:r>
              <a:rPr lang="en-IN" b="1" dirty="0"/>
              <a:t>2023</a:t>
            </a:r>
            <a:r>
              <a:rPr lang="en-IN" dirty="0"/>
              <a:t>, Vol. 42.</a:t>
            </a:r>
          </a:p>
          <a:p>
            <a:r>
              <a:rPr lang="en-IN" b="1" dirty="0"/>
              <a:t>[4]</a:t>
            </a:r>
            <a:r>
              <a:rPr lang="en-IN" dirty="0"/>
              <a:t> S. Romero et al.,</a:t>
            </a:r>
            <a:br>
              <a:rPr lang="en-IN" dirty="0"/>
            </a:br>
            <a:r>
              <a:rPr lang="en-IN" i="1" dirty="0"/>
              <a:t>Lightweight Scripting Languages for Game AI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Future Generation Computer Systems, Elsevier, </a:t>
            </a:r>
            <a:r>
              <a:rPr lang="en-IN" b="1" dirty="0"/>
              <a:t>2022</a:t>
            </a:r>
            <a:r>
              <a:rPr lang="en-IN" dirty="0"/>
              <a:t>, Vol. 129.</a:t>
            </a:r>
          </a:p>
          <a:p>
            <a:r>
              <a:rPr lang="en-IN" b="1" dirty="0"/>
              <a:t>[5]</a:t>
            </a:r>
            <a:r>
              <a:rPr lang="en-IN" dirty="0"/>
              <a:t> P. Martins, R. Silva,</a:t>
            </a:r>
            <a:br>
              <a:rPr lang="en-IN" dirty="0"/>
            </a:br>
            <a:r>
              <a:rPr lang="en-IN" i="1" dirty="0"/>
              <a:t>Agent-Based Game Logic Representation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Springer LNCS, </a:t>
            </a:r>
            <a:r>
              <a:rPr lang="en-IN" b="1" dirty="0"/>
              <a:t>2021</a:t>
            </a:r>
            <a:r>
              <a:rPr lang="en-IN" dirty="0"/>
              <a:t>, Vol. 1280.</a:t>
            </a:r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FD2D-3F7B-529F-3A47-F10269903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2980" y="1825625"/>
            <a:ext cx="5080819" cy="4351338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[6]</a:t>
            </a:r>
            <a:r>
              <a:rPr lang="en-IN" dirty="0"/>
              <a:t> J. Patel et al.,</a:t>
            </a:r>
            <a:br>
              <a:rPr lang="en-IN" dirty="0"/>
            </a:br>
            <a:r>
              <a:rPr lang="en-IN" i="1" dirty="0"/>
              <a:t>Visual Tools for Game Scripting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IEEE Computer Graphics and Applications, </a:t>
            </a:r>
            <a:r>
              <a:rPr lang="en-IN" b="1" dirty="0"/>
              <a:t>2023</a:t>
            </a:r>
            <a:r>
              <a:rPr lang="en-IN" dirty="0"/>
              <a:t>, Vol. 43.</a:t>
            </a:r>
          </a:p>
          <a:p>
            <a:r>
              <a:rPr lang="en-IN" b="1" dirty="0"/>
              <a:t>[7]</a:t>
            </a:r>
            <a:r>
              <a:rPr lang="en-IN" dirty="0"/>
              <a:t> K. Andersson,</a:t>
            </a:r>
            <a:br>
              <a:rPr lang="en-IN" dirty="0"/>
            </a:br>
            <a:r>
              <a:rPr lang="en-IN" i="1" dirty="0"/>
              <a:t>Separation of Game State and </a:t>
            </a:r>
            <a:r>
              <a:rPr lang="en-IN" i="1" dirty="0" err="1"/>
              <a:t>Behavior</a:t>
            </a:r>
            <a:r>
              <a:rPr lang="en-IN" i="1" dirty="0"/>
              <a:t> Logic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Journal of Visual Communication and Image Representation, Elsevier, </a:t>
            </a:r>
            <a:r>
              <a:rPr lang="en-IN" b="1" dirty="0"/>
              <a:t>2020</a:t>
            </a:r>
            <a:r>
              <a:rPr lang="en-IN" dirty="0"/>
              <a:t>.</a:t>
            </a:r>
          </a:p>
          <a:p>
            <a:r>
              <a:rPr lang="en-IN" b="1" dirty="0"/>
              <a:t>[8]</a:t>
            </a:r>
            <a:r>
              <a:rPr lang="en-IN" dirty="0"/>
              <a:t> Y. Tan, H. Wu,</a:t>
            </a:r>
            <a:br>
              <a:rPr lang="en-IN" dirty="0"/>
            </a:br>
            <a:r>
              <a:rPr lang="en-IN" i="1" dirty="0"/>
              <a:t>Time-Based </a:t>
            </a:r>
            <a:r>
              <a:rPr lang="en-IN" i="1" dirty="0" err="1"/>
              <a:t>Behavior</a:t>
            </a:r>
            <a:r>
              <a:rPr lang="en-IN" i="1" dirty="0"/>
              <a:t> </a:t>
            </a:r>
            <a:r>
              <a:rPr lang="en-IN" i="1" dirty="0" err="1"/>
              <a:t>Modeling</a:t>
            </a:r>
            <a:r>
              <a:rPr lang="en-IN" i="1" dirty="0"/>
              <a:t> in Games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IEEE Transactions on Games, </a:t>
            </a:r>
            <a:r>
              <a:rPr lang="en-IN" b="1" dirty="0"/>
              <a:t>2024</a:t>
            </a:r>
            <a:r>
              <a:rPr lang="en-IN" dirty="0"/>
              <a:t>, Vol. 16.</a:t>
            </a:r>
          </a:p>
          <a:p>
            <a:r>
              <a:rPr lang="en-IN" b="1" dirty="0"/>
              <a:t>[9]</a:t>
            </a:r>
            <a:r>
              <a:rPr lang="en-IN" dirty="0"/>
              <a:t> E. Brown et al.,</a:t>
            </a:r>
            <a:br>
              <a:rPr lang="en-IN" dirty="0"/>
            </a:br>
            <a:r>
              <a:rPr lang="en-IN" i="1" dirty="0"/>
              <a:t>DSLs for Interactive Game Narratives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Entertainment Computing, Springer, </a:t>
            </a:r>
            <a:r>
              <a:rPr lang="en-IN" b="1" dirty="0"/>
              <a:t>2021</a:t>
            </a:r>
            <a:r>
              <a:rPr lang="en-IN" dirty="0"/>
              <a:t>, Vol. 38.</a:t>
            </a:r>
          </a:p>
          <a:p>
            <a:r>
              <a:rPr lang="en-IN" b="1" dirty="0"/>
              <a:t>[10]</a:t>
            </a:r>
            <a:r>
              <a:rPr lang="en-IN" dirty="0"/>
              <a:t> D. Novak,</a:t>
            </a:r>
            <a:br>
              <a:rPr lang="en-IN" dirty="0"/>
            </a:br>
            <a:r>
              <a:rPr lang="en-IN" i="1" dirty="0"/>
              <a:t>Model-Driven Game Development Approaches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Wiley Publishing, </a:t>
            </a:r>
            <a:r>
              <a:rPr lang="en-IN" b="1" dirty="0"/>
              <a:t>2022</a:t>
            </a:r>
            <a:r>
              <a:rPr lang="en-IN" dirty="0"/>
              <a:t>.</a:t>
            </a:r>
            <a:endParaRPr lang="en-IN" b="1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DA9C6-A4EB-A127-D03E-7CDE77B1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b="1" smtClean="0"/>
              <a:t>8</a:t>
            </a:fld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9B369-AB8E-A40C-91A9-FDBA83B67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00" y="0"/>
            <a:ext cx="1468800" cy="11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01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5C2ED5-D1AC-7613-AA92-C8E93FCE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59" y="2547886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THANK YOU!..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5188A-C510-C7EB-E1DF-7ED855FD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6A76-6415-47C5-BAAD-7807354C02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223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728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DECLARATIVE TIME-BASED ANIMATION USING DOMAIN-SPECIFIC LANGUAGE</vt:lpstr>
      <vt:lpstr>PRESENTATION OUTLINE</vt:lpstr>
      <vt:lpstr>PROBLEM STATEMENT</vt:lpstr>
      <vt:lpstr>OBJECTIVES</vt:lpstr>
      <vt:lpstr>LITERATURE REVIEW</vt:lpstr>
      <vt:lpstr>Dataset</vt:lpstr>
      <vt:lpstr>SYSTEM ARCHITECTURE</vt:lpstr>
      <vt:lpstr>List of References</vt:lpstr>
      <vt:lpstr>THANK YOU!..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srinivasansenthil1303@gmail.com</dc:creator>
  <cp:lastModifiedBy>srinivasansenthil1303@gmail.com</cp:lastModifiedBy>
  <cp:revision>7</cp:revision>
  <dcterms:created xsi:type="dcterms:W3CDTF">2026-01-27T14:01:54Z</dcterms:created>
  <dcterms:modified xsi:type="dcterms:W3CDTF">2026-01-27T17:32:40Z</dcterms:modified>
</cp:coreProperties>
</file>